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38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5"/>
        <p:guide pos="38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Noto Sans CJK SC"/>
              </a:rPr>
              <a:t>问题一：单一 ASR 能否完整描述后门行为？</a:t>
            </a:r>
            <a:endParaRPr sz="240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530352" cy="50292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" y="658368"/>
            <a:ext cx="10515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Noto Sans CJK SC"/>
              </a:rPr>
              <a:t>从“攻击是否成功”转向“攻击实际作用在哪里”</a:t>
            </a:r>
            <a:endParaRPr sz="1050" b="0" i="0">
              <a:solidFill>
                <a:srgbClr val="64748B"/>
              </a:solidFill>
              <a:latin typeface="Noto Sans CJK SC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30352" y="1143000"/>
            <a:ext cx="365760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399032"/>
            <a:ext cx="1234440" cy="292608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08176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D32F2F"/>
                </a:solidFill>
                <a:latin typeface="Noto Sans CJK SC"/>
              </a:rPr>
              <a:t>传统后门评价</a:t>
            </a:r>
            <a:endParaRPr sz="1050" b="1" i="0">
              <a:solidFill>
                <a:srgbClr val="D32F2F"/>
              </a:solidFill>
              <a:latin typeface="Noto Sans CJK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8803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Noto Sans CJK SC"/>
              </a:rPr>
              <a:t>Trigger / Target</a:t>
            </a:r>
            <a:endParaRPr sz="180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1965960" y="2432304"/>
            <a:ext cx="868680" cy="310896"/>
          </a:xfrm>
          <a:prstGeom prst="downArrow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926080"/>
            <a:ext cx="265176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600" b="1" i="0">
                <a:solidFill>
                  <a:srgbClr val="D32F2F"/>
                </a:solidFill>
                <a:latin typeface="Noto Sans CJK SC"/>
              </a:rPr>
              <a:t>ASR = 95%</a:t>
            </a:r>
            <a:endParaRPr sz="2600" b="1" i="0">
              <a:solidFill>
                <a:srgbClr val="D32F2F"/>
              </a:solidFill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3547872"/>
            <a:ext cx="278892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Noto Sans CJK SC"/>
              </a:rPr>
              <a:t>结论：后门攻击成功</a:t>
            </a:r>
            <a:endParaRPr sz="1300" b="1" i="0">
              <a:solidFill>
                <a:srgbClr val="0F172A"/>
              </a:solidFill>
              <a:latin typeface="Noto Sans CJK SC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68680" y="4041648"/>
            <a:ext cx="2953511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4233672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1" i="0">
                <a:solidFill>
                  <a:srgbClr val="64748B"/>
                </a:solidFill>
                <a:latin typeface="Noto Sans CJK SC"/>
              </a:rPr>
              <a:t>但 ASR 没有回答：</a:t>
            </a:r>
            <a:endParaRPr sz="1250" b="1" i="0">
              <a:solidFill>
                <a:srgbClr val="64748B"/>
              </a:solidFill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6112" y="4617720"/>
            <a:ext cx="2907792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Noto Sans CJK SC"/>
              </a:rPr>
              <a:t>• 相似表达是否也会触发？
• 语义接近但不应触发的输入是否被误伤？</a:t>
            </a:r>
            <a:endParaRPr sz="1150" b="0" i="0">
              <a:solidFill>
                <a:srgbClr val="475569"/>
              </a:solidFill>
              <a:latin typeface="Noto Sans CJK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0120" y="5266944"/>
            <a:ext cx="2788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50" b="1" i="0">
                <a:solidFill>
                  <a:srgbClr val="D32F2F"/>
                </a:solidFill>
                <a:latin typeface="Noto Sans CJK SC"/>
              </a:rPr>
              <a:t>“成功率” ≠ “行为范围”</a:t>
            </a:r>
            <a:endParaRPr sz="1350" b="1" i="0">
              <a:solidFill>
                <a:srgbClr val="D32F2F"/>
              </a:solidFill>
              <a:latin typeface="Noto Sans CJK S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425696" y="1143000"/>
            <a:ext cx="723290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00016" y="1399032"/>
            <a:ext cx="2148840" cy="292608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0016" y="1408176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Noto Sans CJK SC"/>
              </a:rPr>
              <a:t>Semantic Behavior Profile</a:t>
            </a:r>
            <a:endParaRPr sz="1050" b="1" i="0">
              <a:solidFill>
                <a:srgbClr val="2563EB"/>
              </a:solidFill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04304" y="1417320"/>
            <a:ext cx="42245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 i="0">
                <a:solidFill>
                  <a:srgbClr val="0F172A"/>
                </a:solidFill>
                <a:latin typeface="Noto Sans CJK SC"/>
              </a:rPr>
              <a:t>用一条“语义行为边界”描述后门</a:t>
            </a:r>
            <a:endParaRPr sz="1300" b="1" i="0">
              <a:solidFill>
                <a:srgbClr val="0F172A"/>
              </a:solidFill>
              <a:latin typeface="Noto Sans CJK SC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4901184" y="2258568"/>
            <a:ext cx="6254496" cy="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ight Arrow 20"/>
          <p:cNvSpPr/>
          <p:nvPr/>
        </p:nvSpPr>
        <p:spPr>
          <a:xfrm>
            <a:off x="11027664" y="2139696"/>
            <a:ext cx="320040" cy="21945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04704" y="2359152"/>
            <a:ext cx="102412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50" b="0" i="0">
                <a:solidFill>
                  <a:srgbClr val="64748B"/>
                </a:solidFill>
                <a:latin typeface="Noto Sans CJK SC"/>
              </a:rPr>
              <a:t>语义距离 ↑</a:t>
            </a:r>
            <a:endParaRPr sz="950" b="0" i="0">
              <a:solidFill>
                <a:srgbClr val="64748B"/>
              </a:solidFill>
              <a:latin typeface="Noto Sans CJK SC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709160" y="2706624"/>
            <a:ext cx="1417320" cy="148132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2834640"/>
            <a:ext cx="1325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  <a:latin typeface="Noto Sans CJK SC"/>
              </a:rPr>
              <a:t>Target</a:t>
            </a:r>
            <a:endParaRPr sz="1300" b="1" i="0">
              <a:solidFill>
                <a:srgbClr val="2563EB"/>
              </a:solidFill>
              <a:latin typeface="Noto Sans CJK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54880" y="3154680"/>
            <a:ext cx="132588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Noto Sans CJK SC"/>
              </a:rPr>
              <a:t>目标区域</a:t>
            </a:r>
            <a:endParaRPr sz="110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54880" y="3520440"/>
            <a:ext cx="132588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Noto Sans CJK SC"/>
              </a:rPr>
              <a:t>应当触发</a:t>
            </a:r>
            <a:endParaRPr sz="1050" b="0" i="0">
              <a:solidFill>
                <a:srgbClr val="475569"/>
              </a:solidFill>
              <a:latin typeface="Noto Sans CJK SC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19088" y="2706624"/>
            <a:ext cx="1508760" cy="1481328"/>
          </a:xfrm>
          <a:prstGeom prst="roundRect">
            <a:avLst/>
          </a:prstGeom>
          <a:solidFill>
            <a:srgbClr val="F2EC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7" y="2834640"/>
            <a:ext cx="141731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  <a:latin typeface="Noto Sans CJK SC"/>
              </a:rPr>
              <a:t>Equivalent</a:t>
            </a:r>
            <a:endParaRPr sz="1300" b="1" i="0">
              <a:solidFill>
                <a:srgbClr val="7C3AED"/>
              </a:solidFill>
              <a:latin typeface="Noto Sans CJK S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64807" y="3154680"/>
            <a:ext cx="1417319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Noto Sans CJK SC"/>
              </a:rPr>
              <a:t>等义区域</a:t>
            </a:r>
            <a:endParaRPr sz="110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64807" y="3520440"/>
            <a:ext cx="1417319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Noto Sans CJK SC"/>
              </a:rPr>
              <a:t>应当触发</a:t>
            </a:r>
            <a:endParaRPr sz="1050" b="0" i="0">
              <a:solidFill>
                <a:srgbClr val="475569"/>
              </a:solidFill>
              <a:latin typeface="Noto Sans CJK SC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165592" y="2706624"/>
            <a:ext cx="1508760" cy="1481328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2834640"/>
            <a:ext cx="141731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Noto Sans CJK SC"/>
              </a:rPr>
              <a:t>Boundary</a:t>
            </a:r>
            <a:endParaRPr sz="1300" b="1" i="0">
              <a:solidFill>
                <a:srgbClr val="F59E0B"/>
              </a:solidFill>
              <a:latin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11312" y="3154680"/>
            <a:ext cx="1417319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Noto Sans CJK SC"/>
              </a:rPr>
              <a:t>语义边界</a:t>
            </a:r>
            <a:endParaRPr sz="110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11312" y="3520440"/>
            <a:ext cx="1417319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Noto Sans CJK SC"/>
              </a:rPr>
              <a:t>不应触发</a:t>
            </a:r>
            <a:endParaRPr sz="1050" b="0" i="0">
              <a:solidFill>
                <a:srgbClr val="475569"/>
              </a:solidFill>
              <a:latin typeface="Noto Sans CJK SC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912096" y="2706624"/>
            <a:ext cx="1417320" cy="1481328"/>
          </a:xfrm>
          <a:prstGeom prst="roundRect">
            <a:avLst/>
          </a:prstGeom>
          <a:solidFill>
            <a:srgbClr val="EAF8E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57816" y="2834640"/>
            <a:ext cx="1325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  <a:latin typeface="Noto Sans CJK SC"/>
              </a:rPr>
              <a:t>Normal</a:t>
            </a:r>
            <a:endParaRPr sz="1300" b="1" i="0">
              <a:solidFill>
                <a:srgbClr val="16A34A"/>
              </a:solidFill>
              <a:latin typeface="Noto Sans CJK SC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957816" y="3154680"/>
            <a:ext cx="132588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Noto Sans CJK SC"/>
              </a:rPr>
              <a:t>正常区域</a:t>
            </a:r>
            <a:endParaRPr sz="110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957816" y="3520440"/>
            <a:ext cx="132588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Noto Sans CJK SC"/>
              </a:rPr>
              <a:t>不应触发</a:t>
            </a:r>
            <a:endParaRPr sz="1050" b="0" i="0">
              <a:solidFill>
                <a:srgbClr val="475569"/>
              </a:solidFill>
              <a:latin typeface="Noto Sans CJK SC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8010144" y="2560320"/>
            <a:ext cx="0" cy="1755648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406640" y="4407408"/>
            <a:ext cx="1207008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 i="0">
                <a:solidFill>
                  <a:srgbClr val="F59E0B"/>
                </a:solidFill>
                <a:latin typeface="Noto Sans CJK SC"/>
              </a:rPr>
              <a:t>关键行为边界</a:t>
            </a:r>
            <a:endParaRPr sz="1050" b="1" i="0">
              <a:solidFill>
                <a:srgbClr val="F59E0B"/>
              </a:solidFill>
              <a:latin typeface="Noto Sans CJK SC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327648" y="4800600"/>
            <a:ext cx="35844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Noto Sans CJK SC"/>
              </a:rPr>
              <a:t>b = [ pT , pE , pB , pN ]</a:t>
            </a:r>
            <a:endParaRPr sz="180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559552" y="5212080"/>
            <a:ext cx="5102352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50" b="1" i="0">
                <a:solidFill>
                  <a:srgbClr val="2563EB"/>
                </a:solidFill>
                <a:latin typeface="Noto Sans CJK SC"/>
              </a:rPr>
              <a:t>从单一成功率 → 完整行为激活剖面</a:t>
            </a:r>
            <a:endParaRPr sz="1350" b="1" i="0">
              <a:solidFill>
                <a:srgbClr val="2563EB"/>
              </a:solidFill>
              <a:latin typeface="Noto Sans CJK SC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30352" y="5870448"/>
            <a:ext cx="11128248" cy="43891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5943600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Noto Sans CJK SC"/>
              </a:rPr>
              <a:t>核心：后门不仅要看“能不能触发”，还要看“在哪里触发、是否越界”。</a:t>
            </a:r>
            <a:endParaRPr sz="1350" b="1" i="0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30352" y="6473952"/>
            <a:ext cx="110642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Noto Sans CJK SC"/>
              </a:rPr>
              <a:t>Page 1  |  Behavior Definition</a:t>
            </a:r>
            <a:endParaRPr sz="850" b="0" i="0">
              <a:solidFill>
                <a:srgbClr val="64748B"/>
              </a:solidFill>
              <a:latin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Noto Sans CJK SC"/>
              </a:rPr>
              <a:t>问题二：后门行为能否从 Local Model 忠实传递到 Global Model？</a:t>
            </a:r>
            <a:endParaRPr sz="240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530352" cy="50292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" y="658368"/>
            <a:ext cx="10515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Noto Sans CJK SC"/>
              </a:rPr>
              <a:t>核心命题：High Global ASR ≠ High Behavior Transfer Fidelity</a:t>
            </a:r>
            <a:endParaRPr sz="1050" b="0" i="0">
              <a:solidFill>
                <a:srgbClr val="64748B"/>
              </a:solidFill>
              <a:latin typeface="Noto Sans CJK SC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30352" y="1124712"/>
            <a:ext cx="3767328" cy="45537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1389888"/>
            <a:ext cx="1664208" cy="292608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99032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Noto Sans CJK SC"/>
              </a:rPr>
              <a:t>Local Behavior Profile</a:t>
            </a:r>
            <a:endParaRPr sz="1050" b="1" i="0">
              <a:solidFill>
                <a:srgbClr val="2563EB"/>
              </a:solidFill>
              <a:latin typeface="Noto Sans CJK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18211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Noto Sans CJK SC"/>
              </a:rPr>
              <a:t>恶意客户端本地训练结束</a:t>
            </a:r>
            <a:endParaRPr sz="1150" b="0" i="0">
              <a:solidFill>
                <a:srgbClr val="64748B"/>
              </a:solidFill>
              <a:latin typeface="Noto Sans CJK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2249424"/>
            <a:ext cx="960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  <a:latin typeface="Noto Sans CJK SC"/>
              </a:rPr>
              <a:t>Target</a:t>
            </a:r>
            <a:endParaRPr sz="1150" b="0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828800" y="2267712"/>
            <a:ext cx="2084831" cy="24688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2267712"/>
            <a:ext cx="1980590" cy="2468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5071" y="2240280"/>
            <a:ext cx="5669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50" b="0" i="0">
                <a:solidFill>
                  <a:srgbClr val="2563EB"/>
                </a:solidFill>
                <a:latin typeface="Noto Sans CJK SC"/>
              </a:rPr>
              <a:t>95%</a:t>
            </a:r>
            <a:endParaRPr sz="1150" b="0" i="0">
              <a:solidFill>
                <a:srgbClr val="2563EB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1248" y="2779776"/>
            <a:ext cx="960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  <a:latin typeface="Noto Sans CJK SC"/>
              </a:rPr>
              <a:t>Equivalent</a:t>
            </a:r>
            <a:endParaRPr sz="1150" b="0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828800" y="2798064"/>
            <a:ext cx="2084831" cy="24688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28800" y="2798064"/>
            <a:ext cx="1897197" cy="24688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5071" y="2770632"/>
            <a:ext cx="5669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50" b="0" i="0">
                <a:solidFill>
                  <a:srgbClr val="7C3AED"/>
                </a:solidFill>
                <a:latin typeface="Noto Sans CJK SC"/>
              </a:rPr>
              <a:t>91%</a:t>
            </a:r>
            <a:endParaRPr sz="1150" b="0" i="0">
              <a:solidFill>
                <a:srgbClr val="7C3AED"/>
              </a:solidFill>
              <a:latin typeface="Noto Sans CJK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1248" y="3310127"/>
            <a:ext cx="960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Noto Sans CJK SC"/>
              </a:rPr>
              <a:t>Boundary</a:t>
            </a:r>
            <a:endParaRPr sz="115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828800" y="3328415"/>
            <a:ext cx="2084831" cy="24688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828800" y="3328415"/>
            <a:ext cx="166786" cy="24688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5071" y="3300984"/>
            <a:ext cx="5669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50" b="1" i="0">
                <a:solidFill>
                  <a:srgbClr val="F59E0B"/>
                </a:solidFill>
                <a:latin typeface="Noto Sans CJK SC"/>
              </a:rPr>
              <a:t>8%</a:t>
            </a:r>
            <a:endParaRPr sz="1150" b="1" i="0">
              <a:solidFill>
                <a:srgbClr val="F59E0B"/>
              </a:solidFill>
              <a:latin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1248" y="3840480"/>
            <a:ext cx="960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  <a:latin typeface="Noto Sans CJK SC"/>
              </a:rPr>
              <a:t>Normal</a:t>
            </a:r>
            <a:endParaRPr sz="1150" b="0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828800" y="3858768"/>
            <a:ext cx="2084831" cy="24688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828800" y="3858768"/>
            <a:ext cx="45720" cy="24688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1" y="3831335"/>
            <a:ext cx="5669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50" b="0" i="0">
                <a:solidFill>
                  <a:srgbClr val="16A34A"/>
                </a:solidFill>
                <a:latin typeface="Noto Sans CJK SC"/>
              </a:rPr>
              <a:t>2%</a:t>
            </a:r>
            <a:endParaRPr sz="1150" b="0" i="0">
              <a:solidFill>
                <a:srgbClr val="16A34A"/>
              </a:solidFill>
              <a:latin typeface="Noto Sans CJK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05840" y="4828032"/>
            <a:ext cx="2697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  <a:latin typeface="Noto Sans CJK SC"/>
              </a:rPr>
              <a:t>攻击强，边界较窄</a:t>
            </a:r>
            <a:endParaRPr sz="1300" b="1" i="0">
              <a:solidFill>
                <a:srgbClr val="2563EB"/>
              </a:solidFill>
              <a:latin typeface="Noto Sans CJK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0120" y="5175504"/>
            <a:ext cx="276148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1" i="0">
                <a:solidFill>
                  <a:srgbClr val="0F172A"/>
                </a:solidFill>
                <a:latin typeface="Noto Sans CJK SC"/>
              </a:rPr>
              <a:t>bL = [95, 91, 8, 2]</a:t>
            </a:r>
            <a:endParaRPr sz="125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553712" y="1901952"/>
            <a:ext cx="1847088" cy="2633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2221992"/>
            <a:ext cx="1481328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50" b="1" i="0">
                <a:solidFill>
                  <a:srgbClr val="0F172A"/>
                </a:solidFill>
                <a:latin typeface="Noto Sans CJK SC"/>
              </a:rPr>
              <a:t>Federated
Aggregation</a:t>
            </a:r>
            <a:endParaRPr sz="165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09744" y="3054096"/>
            <a:ext cx="1316736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Noto Sans CJK SC"/>
              </a:rPr>
              <a:t>恶意更新
+
正常客户端更新</a:t>
            </a:r>
            <a:endParaRPr sz="1100" b="0" i="0">
              <a:solidFill>
                <a:srgbClr val="64748B"/>
              </a:solidFill>
              <a:latin typeface="Noto Sans CJK SC"/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4187952" y="2907792"/>
            <a:ext cx="475488" cy="31089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6281928" y="2907792"/>
            <a:ext cx="475488" cy="310896"/>
          </a:xfrm>
          <a:prstGeom prst="rightArrow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56832" y="1124712"/>
            <a:ext cx="5001768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31152" y="1389888"/>
            <a:ext cx="1755648" cy="292608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31152" y="1399032"/>
            <a:ext cx="17556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D32F2F"/>
                </a:solidFill>
                <a:latin typeface="Noto Sans CJK SC"/>
              </a:rPr>
              <a:t>Global Behavior Profile</a:t>
            </a:r>
            <a:endParaRPr sz="1050" b="1" i="0">
              <a:solidFill>
                <a:srgbClr val="D32F2F"/>
              </a:solidFill>
              <a:latin typeface="Noto Sans CJK S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949440" y="1783080"/>
            <a:ext cx="4315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Noto Sans CJK SC"/>
              </a:rPr>
              <a:t>聚合后对同一批语义探针再次评估</a:t>
            </a:r>
            <a:endParaRPr sz="1150" b="0" i="0">
              <a:solidFill>
                <a:srgbClr val="64748B"/>
              </a:solidFill>
              <a:latin typeface="Noto Sans CJK SC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49440" y="2249424"/>
            <a:ext cx="960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  <a:latin typeface="Noto Sans CJK SC"/>
              </a:rPr>
              <a:t>Target</a:t>
            </a:r>
            <a:endParaRPr sz="1150" b="0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936992" y="2267712"/>
            <a:ext cx="2743200" cy="24688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936992" y="2267712"/>
            <a:ext cx="2551176" cy="2468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71632" y="2240280"/>
            <a:ext cx="5669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50" b="0" i="0">
                <a:solidFill>
                  <a:srgbClr val="2563EB"/>
                </a:solidFill>
                <a:latin typeface="Noto Sans CJK SC"/>
              </a:rPr>
              <a:t>93%</a:t>
            </a:r>
            <a:endParaRPr sz="1150" b="0" i="0">
              <a:solidFill>
                <a:srgbClr val="2563EB"/>
              </a:solidFill>
              <a:latin typeface="Noto Sans CJK SC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949440" y="2779776"/>
            <a:ext cx="960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  <a:latin typeface="Noto Sans CJK SC"/>
              </a:rPr>
              <a:t>Equivalent</a:t>
            </a:r>
            <a:endParaRPr sz="1150" b="0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936992" y="2798064"/>
            <a:ext cx="2743200" cy="24688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936992" y="2798064"/>
            <a:ext cx="2441448" cy="24688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71632" y="2770632"/>
            <a:ext cx="5669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50" b="0" i="0">
                <a:solidFill>
                  <a:srgbClr val="7C3AED"/>
                </a:solidFill>
                <a:latin typeface="Noto Sans CJK SC"/>
              </a:rPr>
              <a:t>89%</a:t>
            </a:r>
            <a:endParaRPr sz="1150" b="0" i="0">
              <a:solidFill>
                <a:srgbClr val="7C3AED"/>
              </a:solidFill>
              <a:latin typeface="Noto Sans CJK SC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949440" y="3310127"/>
            <a:ext cx="960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Noto Sans CJK SC"/>
              </a:rPr>
              <a:t>Boundary</a:t>
            </a:r>
            <a:endParaRPr sz="115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936992" y="3328415"/>
            <a:ext cx="2743200" cy="24688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936992" y="3328415"/>
            <a:ext cx="1042415" cy="24688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71632" y="3300984"/>
            <a:ext cx="5669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50" b="1" i="0">
                <a:solidFill>
                  <a:srgbClr val="F59E0B"/>
                </a:solidFill>
                <a:latin typeface="Noto Sans CJK SC"/>
              </a:rPr>
              <a:t>38%</a:t>
            </a:r>
            <a:endParaRPr sz="1150" b="1" i="0">
              <a:solidFill>
                <a:srgbClr val="F59E0B"/>
              </a:solidFill>
              <a:latin typeface="Noto Sans CJK SC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949440" y="3840480"/>
            <a:ext cx="960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  <a:latin typeface="Noto Sans CJK SC"/>
              </a:rPr>
              <a:t>Normal</a:t>
            </a:r>
            <a:endParaRPr sz="1150" b="0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7936992" y="3858768"/>
            <a:ext cx="2743200" cy="24688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936992" y="3858768"/>
            <a:ext cx="82296" cy="24688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771632" y="3831335"/>
            <a:ext cx="5669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50" b="0" i="0">
                <a:solidFill>
                  <a:srgbClr val="16A34A"/>
                </a:solidFill>
                <a:latin typeface="Noto Sans CJK SC"/>
              </a:rPr>
              <a:t>3%</a:t>
            </a:r>
            <a:endParaRPr sz="1150" b="0" i="0">
              <a:solidFill>
                <a:srgbClr val="16A34A"/>
              </a:solidFill>
              <a:latin typeface="Noto Sans CJK SC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022592" y="4727448"/>
            <a:ext cx="1901952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20" b="1" i="0">
                <a:solidFill>
                  <a:srgbClr val="2563EB"/>
                </a:solidFill>
                <a:latin typeface="Noto Sans CJK SC"/>
              </a:rPr>
              <a:t>Target 95 → 93：几乎不变</a:t>
            </a:r>
            <a:endParaRPr sz="1220" b="1" i="0">
              <a:solidFill>
                <a:srgbClr val="2563EB"/>
              </a:solidFill>
              <a:latin typeface="Noto Sans CJK SC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942832" y="4727448"/>
            <a:ext cx="2212848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20" b="1" i="0">
                <a:solidFill>
                  <a:srgbClr val="F59E0B"/>
                </a:solidFill>
                <a:latin typeface="Noto Sans CJK SC"/>
              </a:rPr>
              <a:t>Boundary 8 → 38：显著扩张</a:t>
            </a:r>
            <a:endParaRPr sz="1220" b="1" i="0">
              <a:solidFill>
                <a:srgbClr val="F59E0B"/>
              </a:solidFill>
              <a:latin typeface="Noto Sans CJK SC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726679" y="5175504"/>
            <a:ext cx="2971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1" i="0">
                <a:solidFill>
                  <a:srgbClr val="0F172A"/>
                </a:solidFill>
                <a:latin typeface="Noto Sans CJK SC"/>
              </a:rPr>
              <a:t>bG = [93, 89, 38, 3]</a:t>
            </a:r>
            <a:endParaRPr sz="125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530352" y="5843016"/>
            <a:ext cx="11128248" cy="49377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9935" y="5906770"/>
            <a:ext cx="4657090" cy="30670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oto Sans CJK SC"/>
              </a:rPr>
              <a:t>Behavior Transfer Fidelity (BTF) = 1 − D(bL , bG)</a:t>
            </a:r>
            <a:endParaRPr sz="1400" b="1" i="0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983480" y="5907024"/>
            <a:ext cx="63916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400" b="1" i="0">
                <a:solidFill>
                  <a:srgbClr val="F8D8D8"/>
                </a:solidFill>
                <a:latin typeface="Noto Sans CJK SC"/>
              </a:rPr>
              <a:t>聚合可以保持高 ASR，却同时重塑攻击行为边界</a:t>
            </a:r>
            <a:endParaRPr sz="1400" b="1" i="0">
              <a:solidFill>
                <a:srgbClr val="F8D8D8"/>
              </a:solidFill>
              <a:latin typeface="Noto Sans CJK SC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30352" y="6473952"/>
            <a:ext cx="110642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Noto Sans CJK SC"/>
              </a:rPr>
              <a:t>示例数值用于说明行为传递失真  |  Page 2  |  Behavior Transfer</a:t>
            </a:r>
            <a:endParaRPr sz="850" b="0" i="0">
              <a:solidFill>
                <a:srgbClr val="64748B"/>
              </a:solidFill>
              <a:latin typeface="Noto Sans CJK SC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468880" y="5538470"/>
            <a:ext cx="6231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BTF </a:t>
            </a:r>
            <a:r>
              <a:rPr lang="zh-CN" altLang="en-US"/>
              <a:t>衡量聚合后的后门行为与本地攻击者原始行为是否一致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Noto Sans CJK SC"/>
              </a:rPr>
              <a:t>问题三：为什么同一次聚合会对不同语义区域产生不同影响？</a:t>
            </a:r>
            <a:endParaRPr sz="240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530352" cy="50292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" y="658368"/>
            <a:ext cx="10515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Noto Sans CJK SC"/>
              </a:rPr>
              <a:t>机制假设：Region-wise Aggregation Interference</a:t>
            </a:r>
            <a:endParaRPr sz="1050" b="0" i="0">
              <a:solidFill>
                <a:srgbClr val="64748B"/>
              </a:solidFill>
              <a:latin typeface="Noto Sans CJK SC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30352" y="1143000"/>
            <a:ext cx="3108960" cy="4956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1399032"/>
            <a:ext cx="932688" cy="292608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408176"/>
            <a:ext cx="9326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Noto Sans CJK SC"/>
              </a:rPr>
              <a:t>更新混合</a:t>
            </a:r>
            <a:endParaRPr sz="1050" b="1" i="0">
              <a:solidFill>
                <a:srgbClr val="2563EB"/>
              </a:solidFill>
              <a:latin typeface="Noto Sans CJK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8" y="1874519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D32F2F"/>
                </a:solidFill>
                <a:latin typeface="Noto Sans CJK SC"/>
              </a:rPr>
              <a:t>恶意客户端</a:t>
            </a:r>
            <a:endParaRPr sz="1200" b="1" i="0">
              <a:solidFill>
                <a:srgbClr val="D32F2F"/>
              </a:solidFill>
              <a:latin typeface="Noto Sans CJK SC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1874519" y="1865376"/>
            <a:ext cx="274320" cy="210312"/>
          </a:xfrm>
          <a:prstGeom prst="rightArrow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2203703" y="1865376"/>
            <a:ext cx="274320" cy="210312"/>
          </a:xfrm>
          <a:prstGeom prst="rightArrow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2532887" y="1865376"/>
            <a:ext cx="274320" cy="210312"/>
          </a:xfrm>
          <a:prstGeom prst="rightArrow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2862072" y="1865376"/>
            <a:ext cx="274320" cy="210312"/>
          </a:xfrm>
          <a:prstGeom prst="rightArrow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51460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Noto Sans CJK SC"/>
              </a:rPr>
              <a:t>正常客户端</a:t>
            </a:r>
            <a:endParaRPr sz="1200" b="1" i="0">
              <a:solidFill>
                <a:srgbClr val="2563EB"/>
              </a:solidFill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83080" y="2459736"/>
            <a:ext cx="148132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 i="0">
                <a:solidFill>
                  <a:srgbClr val="2563EB"/>
                </a:solidFill>
                <a:latin typeface="Noto Sans CJK SC"/>
              </a:rPr>
              <a:t>←   ↑   ↗   ↓   →</a:t>
            </a:r>
            <a:endParaRPr sz="1900" b="1" i="0">
              <a:solidFill>
                <a:srgbClr val="2563EB"/>
              </a:solidFill>
              <a:latin typeface="Noto Sans CJK SC"/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1719072" y="3136392"/>
            <a:ext cx="713232" cy="310896"/>
          </a:xfrm>
          <a:prstGeom prst="down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43000" y="3685032"/>
            <a:ext cx="190195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822191"/>
            <a:ext cx="1719072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Noto Sans CJK SC"/>
              </a:rPr>
              <a:t>Weighted
Aggregation</a:t>
            </a:r>
            <a:endParaRPr sz="150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1248" y="4864608"/>
            <a:ext cx="2487168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Noto Sans CJK SC"/>
              </a:rPr>
              <a:t>同一聚合扰动作用于不同区域</a:t>
            </a:r>
            <a:endParaRPr sz="1200" b="1" i="0">
              <a:solidFill>
                <a:srgbClr val="64748B"/>
              </a:solidFill>
              <a:latin typeface="Noto Sans CJK SC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858768" y="1143000"/>
            <a:ext cx="3858768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33087" y="1399032"/>
            <a:ext cx="1856231" cy="292608"/>
          </a:xfrm>
          <a:prstGeom prst="roundRect">
            <a:avLst/>
          </a:prstGeom>
          <a:solidFill>
            <a:srgbClr val="F2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33087" y="1408176"/>
            <a:ext cx="1856231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7C3AED"/>
                </a:solidFill>
                <a:latin typeface="Noto Sans CJK SC"/>
              </a:rPr>
              <a:t>Aggregation Perturbation</a:t>
            </a:r>
            <a:endParaRPr sz="1050" b="1" i="0">
              <a:solidFill>
                <a:srgbClr val="7C3AED"/>
              </a:solidFill>
              <a:latin typeface="Noto Sans CJK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06240" y="1874519"/>
            <a:ext cx="3154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Noto Sans CJK SC"/>
              </a:rPr>
              <a:t>Local malicious model</a:t>
            </a:r>
            <a:endParaRPr sz="1050" b="0" i="0">
              <a:solidFill>
                <a:srgbClr val="64748B"/>
              </a:solidFill>
              <a:latin typeface="Noto Sans CJK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24528" y="2176272"/>
            <a:ext cx="31272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 i="0">
                <a:solidFill>
                  <a:srgbClr val="0F172A"/>
                </a:solidFill>
                <a:latin typeface="Noto Sans CJK SC"/>
              </a:rPr>
              <a:t>θL = θt + Δθm</a:t>
            </a:r>
            <a:endParaRPr sz="190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06240" y="2770632"/>
            <a:ext cx="3154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Noto Sans CJK SC"/>
              </a:rPr>
              <a:t>Global model after aggregation</a:t>
            </a:r>
            <a:endParaRPr sz="1050" b="0" i="0">
              <a:solidFill>
                <a:srgbClr val="64748B"/>
              </a:solidFill>
              <a:latin typeface="Noto Sans CJK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96512" y="3072384"/>
            <a:ext cx="34015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 i="0">
                <a:solidFill>
                  <a:srgbClr val="0F172A"/>
                </a:solidFill>
                <a:latin typeface="Noto Sans CJK SC"/>
              </a:rPr>
              <a:t>θG = θt + αmΔθm + Σ αiΔθi</a:t>
            </a:r>
            <a:endParaRPr sz="1700" b="1" i="0">
              <a:solidFill>
                <a:srgbClr val="0F172A"/>
              </a:solidFill>
              <a:latin typeface="Noto Sans CJK SC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4315968" y="3685032"/>
            <a:ext cx="2944368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224528" y="3941063"/>
            <a:ext cx="31272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 i="0">
                <a:solidFill>
                  <a:srgbClr val="7C3AED"/>
                </a:solidFill>
                <a:latin typeface="Noto Sans CJK SC"/>
              </a:rPr>
              <a:t>Δθagg = θG − θL</a:t>
            </a:r>
            <a:endParaRPr sz="2000" b="1" i="0">
              <a:solidFill>
                <a:srgbClr val="7C3AED"/>
              </a:solidFill>
              <a:latin typeface="Noto Sans CJK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24528" y="4507992"/>
            <a:ext cx="31272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0" i="0">
                <a:solidFill>
                  <a:srgbClr val="64748B"/>
                </a:solidFill>
                <a:latin typeface="Noto Sans CJK SC"/>
              </a:rPr>
              <a:t>区域 r 的行为变化近似由：</a:t>
            </a:r>
            <a:endParaRPr sz="1150" b="0" i="0">
              <a:solidFill>
                <a:srgbClr val="64748B"/>
              </a:solidFill>
              <a:latin typeface="Noto Sans CJK S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224528" y="4882896"/>
            <a:ext cx="312724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 i="0">
                <a:solidFill>
                  <a:srgbClr val="0F172A"/>
                </a:solidFill>
                <a:latin typeface="Noto Sans CJK SC"/>
              </a:rPr>
              <a:t>ΔFr ≈ ∇θFrᵀ · Δθagg</a:t>
            </a:r>
            <a:endParaRPr sz="190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224528" y="5404104"/>
            <a:ext cx="312724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1" i="0">
                <a:solidFill>
                  <a:srgbClr val="7C3AED"/>
                </a:solidFill>
                <a:latin typeface="Noto Sans CJK SC"/>
              </a:rPr>
              <a:t>关键：不同区域的敏感方向不同</a:t>
            </a:r>
            <a:endParaRPr sz="1250" b="1" i="0">
              <a:solidFill>
                <a:srgbClr val="7C3AED"/>
              </a:solidFill>
              <a:latin typeface="Noto Sans CJK SC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936992" y="1143000"/>
            <a:ext cx="3721608" cy="4956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11312" y="1399032"/>
            <a:ext cx="1234440" cy="292608"/>
          </a:xfrm>
          <a:prstGeom prst="roundRect">
            <a:avLst/>
          </a:prstGeom>
          <a:solidFill>
            <a:srgbClr val="FFF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2" y="1408176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59E0B"/>
                </a:solidFill>
                <a:latin typeface="Noto Sans CJK SC"/>
              </a:rPr>
              <a:t>区域依赖效应</a:t>
            </a:r>
            <a:endParaRPr sz="1050" b="1" i="0">
              <a:solidFill>
                <a:srgbClr val="F59E0B"/>
              </a:solidFill>
              <a:latin typeface="Noto Sans CJK SC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211312" y="1920240"/>
            <a:ext cx="3163824" cy="13350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2084705"/>
            <a:ext cx="1671955" cy="356235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Noto Sans CJK SC"/>
              </a:rPr>
              <a:t>Target Region</a:t>
            </a:r>
            <a:endParaRPr sz="1250" b="1" i="0">
              <a:solidFill>
                <a:srgbClr val="2563EB"/>
              </a:solidFill>
              <a:latin typeface="Noto Sans CJK SC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66760" y="2441448"/>
            <a:ext cx="27249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  <a:latin typeface="Noto Sans CJK SC"/>
              </a:rPr>
              <a:t>负向投影 → 目标行为被抵消</a:t>
            </a:r>
            <a:endParaRPr sz="1150" b="0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66760" y="2788920"/>
            <a:ext cx="2724912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2563EB"/>
                </a:solidFill>
                <a:latin typeface="Noto Sans CJK SC"/>
              </a:rPr>
              <a:t>95%  →  92%</a:t>
            </a:r>
            <a:endParaRPr sz="1800" b="1" i="0">
              <a:solidFill>
                <a:srgbClr val="2563EB"/>
              </a:solidFill>
              <a:latin typeface="Noto Sans CJK SC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211312" y="3566160"/>
            <a:ext cx="3163824" cy="1481328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3749040"/>
            <a:ext cx="1925955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  <a:latin typeface="Noto Sans CJK SC"/>
              </a:rPr>
              <a:t>Boundary Region</a:t>
            </a:r>
            <a:endParaRPr sz="1250" b="1" i="0">
              <a:solidFill>
                <a:srgbClr val="F59E0B"/>
              </a:solidFill>
              <a:latin typeface="Noto Sans CJK SC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366760" y="4114800"/>
            <a:ext cx="27249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  <a:latin typeface="Noto Sans CJK SC"/>
              </a:rPr>
              <a:t>正向投影 → 非目标激活被放大</a:t>
            </a:r>
            <a:endParaRPr sz="1150" b="0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366760" y="4498848"/>
            <a:ext cx="2724912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  <a:latin typeface="Noto Sans CJK SC"/>
              </a:rPr>
              <a:t>8%  →  38%</a:t>
            </a:r>
            <a:endParaRPr sz="1800" b="1" i="0">
              <a:solidFill>
                <a:srgbClr val="F59E0B"/>
              </a:solidFill>
              <a:latin typeface="Noto Sans CJK SC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284464" y="5385816"/>
            <a:ext cx="2990088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20" b="1" i="0">
                <a:solidFill>
                  <a:srgbClr val="D32F2F"/>
                </a:solidFill>
                <a:latin typeface="Noto Sans CJK SC"/>
              </a:rPr>
              <a:t>同一次聚合，可同时“削弱目标 + 扩张边界”</a:t>
            </a:r>
            <a:endParaRPr sz="1220" b="1" i="0">
              <a:solidFill>
                <a:srgbClr val="D32F2F"/>
              </a:solidFill>
              <a:latin typeface="Noto Sans CJK SC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30352" y="6236208"/>
            <a:ext cx="11128248" cy="31089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6263640"/>
            <a:ext cx="1077163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30" b="1" i="0">
                <a:solidFill>
                  <a:srgbClr val="FFFFFF"/>
                </a:solidFill>
                <a:latin typeface="Noto Sans CJK SC"/>
              </a:rPr>
              <a:t>Region-wise Aggregation Interference：聚合不是统一缩放攻击，而是区域依赖地重塑行为。</a:t>
            </a:r>
            <a:endParaRPr sz="1230" b="1" i="0">
              <a:solidFill>
                <a:srgbClr val="FFFFFF"/>
              </a:solidFill>
              <a:latin typeface="Noto Sans CJK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Noto Sans CJK SC"/>
              </a:rPr>
              <a:t>整体框架：后门行为传递的测量、解释与纠正</a:t>
            </a:r>
            <a:endParaRPr sz="240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530352" cy="50292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" y="658368"/>
            <a:ext cx="10515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Noto Sans CJK SC"/>
              </a:rPr>
              <a:t>Measuring, Explaining and Correcting Backdoor Behavior Transfer</a:t>
            </a:r>
            <a:endParaRPr sz="1050" b="0" i="0">
              <a:solidFill>
                <a:srgbClr val="64748B"/>
              </a:solidFill>
              <a:latin typeface="Noto Sans CJK SC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30352" y="1417320"/>
            <a:ext cx="2450592" cy="20574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81912"/>
            <a:ext cx="384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Noto Sans CJK SC"/>
              </a:rPr>
              <a:t>01</a:t>
            </a:r>
            <a:endParaRPr sz="1700" b="1" i="0">
              <a:solidFill>
                <a:srgbClr val="2563EB"/>
              </a:solidFill>
              <a:latin typeface="Noto Sans CJK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" y="1600200"/>
            <a:ext cx="1764792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1" i="0">
                <a:solidFill>
                  <a:srgbClr val="0F172A"/>
                </a:solidFill>
                <a:latin typeface="Noto Sans CJK SC"/>
              </a:rPr>
              <a:t>Behavior Profiling</a:t>
            </a:r>
            <a:endParaRPr sz="1320" b="1" i="0">
              <a:solidFill>
                <a:srgbClr val="0F172A"/>
              </a:solidFill>
              <a:latin typeface="Noto Sans CJK SC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694944" y="2039112"/>
            <a:ext cx="2121408" cy="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4944" y="2240280"/>
            <a:ext cx="2121408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60" b="0" i="0">
                <a:solidFill>
                  <a:srgbClr val="475569"/>
                </a:solidFill>
                <a:latin typeface="Noto Sans CJK SC"/>
              </a:rPr>
              <a:t>Target → Equivalent
→ Boundary → Normal</a:t>
            </a:r>
            <a:endParaRPr sz="1160" b="0" i="0">
              <a:solidFill>
                <a:srgbClr val="475569"/>
              </a:solidFill>
              <a:latin typeface="Noto Sans CJK SC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035808" y="2295144"/>
            <a:ext cx="219456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00984" y="1417320"/>
            <a:ext cx="2450592" cy="2057400"/>
          </a:xfrm>
          <a:prstGeom prst="roundRect">
            <a:avLst/>
          </a:prstGeom>
          <a:solidFill>
            <a:srgbClr val="F2EC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5576" y="1581912"/>
            <a:ext cx="384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  <a:latin typeface="Noto Sans CJK SC"/>
              </a:rPr>
              <a:t>02</a:t>
            </a:r>
            <a:endParaRPr sz="1700" b="1" i="0">
              <a:solidFill>
                <a:srgbClr val="7C3AED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31336" y="1600200"/>
            <a:ext cx="1764792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1" i="0">
                <a:solidFill>
                  <a:srgbClr val="0F172A"/>
                </a:solidFill>
                <a:latin typeface="Noto Sans CJK SC"/>
              </a:rPr>
              <a:t>Transfer Measurement</a:t>
            </a:r>
            <a:endParaRPr sz="1320" b="1" i="0">
              <a:solidFill>
                <a:srgbClr val="0F172A"/>
              </a:solidFill>
              <a:latin typeface="Noto Sans CJK SC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3465576" y="2039112"/>
            <a:ext cx="2121408" cy="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465576" y="2240280"/>
            <a:ext cx="2121408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60" b="0" i="0">
                <a:solidFill>
                  <a:srgbClr val="475569"/>
                </a:solidFill>
                <a:latin typeface="Noto Sans CJK SC"/>
              </a:rPr>
              <a:t>Local Profile → Global Profile
BTF + Boundary Expansion</a:t>
            </a:r>
            <a:endParaRPr sz="1160" b="0" i="0">
              <a:solidFill>
                <a:srgbClr val="475569"/>
              </a:solidFill>
              <a:latin typeface="Noto Sans CJK SC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5806440" y="2295144"/>
            <a:ext cx="219456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71616" y="1417320"/>
            <a:ext cx="2450592" cy="2057400"/>
          </a:xfrm>
          <a:prstGeom prst="roundRect">
            <a:avLst/>
          </a:prstGeom>
          <a:solidFill>
            <a:srgbClr val="FFF5D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581912"/>
            <a:ext cx="384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F59E0B"/>
                </a:solidFill>
                <a:latin typeface="Noto Sans CJK SC"/>
              </a:rPr>
              <a:t>03</a:t>
            </a:r>
            <a:endParaRPr sz="1700" b="1" i="0">
              <a:solidFill>
                <a:srgbClr val="F59E0B"/>
              </a:solidFill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01968" y="1600200"/>
            <a:ext cx="1764792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1" i="0">
                <a:solidFill>
                  <a:srgbClr val="0F172A"/>
                </a:solidFill>
                <a:latin typeface="Noto Sans CJK SC"/>
              </a:rPr>
              <a:t>Interference Analysis</a:t>
            </a:r>
            <a:endParaRPr sz="1320" b="1" i="0">
              <a:solidFill>
                <a:srgbClr val="0F172A"/>
              </a:solidFill>
              <a:latin typeface="Noto Sans CJK SC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6236208" y="2039112"/>
            <a:ext cx="2121408" cy="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36208" y="2240280"/>
            <a:ext cx="2121408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60" b="0" i="0">
                <a:solidFill>
                  <a:srgbClr val="475569"/>
                </a:solidFill>
                <a:latin typeface="Noto Sans CJK SC"/>
              </a:rPr>
              <a:t>Δθagg × Region Sensitivity
解释区域级聚合干扰</a:t>
            </a:r>
            <a:endParaRPr sz="1160" b="0" i="0">
              <a:solidFill>
                <a:srgbClr val="475569"/>
              </a:solidFill>
              <a:latin typeface="Noto Sans CJK SC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8577072" y="2295144"/>
            <a:ext cx="219456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42248" y="1417320"/>
            <a:ext cx="2450592" cy="205740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1581912"/>
            <a:ext cx="384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D32F2F"/>
                </a:solidFill>
                <a:latin typeface="Noto Sans CJK SC"/>
              </a:rPr>
              <a:t>04</a:t>
            </a:r>
            <a:endParaRPr sz="1700" b="1" i="0">
              <a:solidFill>
                <a:srgbClr val="D32F2F"/>
              </a:solidFill>
              <a:latin typeface="Noto Sans CJK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372600" y="1600200"/>
            <a:ext cx="1764792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1" i="0">
                <a:solidFill>
                  <a:srgbClr val="0F172A"/>
                </a:solidFill>
                <a:latin typeface="Noto Sans CJK SC"/>
              </a:rPr>
              <a:t>Profile-aware BPFC</a:t>
            </a:r>
            <a:endParaRPr sz="1320" b="1" i="0">
              <a:solidFill>
                <a:srgbClr val="0F172A"/>
              </a:solidFill>
              <a:latin typeface="Noto Sans CJK SC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9006840" y="2039112"/>
            <a:ext cx="2121408" cy="0"/>
          </a:xfrm>
          <a:prstGeom prst="line">
            <a:avLst/>
          </a:prstGeom>
          <a:ln w="1270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006840" y="2240280"/>
            <a:ext cx="2121408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60" b="0" i="0">
                <a:solidFill>
                  <a:srgbClr val="475569"/>
                </a:solidFill>
                <a:latin typeface="Noto Sans CJK SC"/>
              </a:rPr>
              <a:t>Global Feedback → 下一轮纠正
补 Target / 压 Boundary</a:t>
            </a:r>
            <a:endParaRPr sz="1160" b="0" i="0">
              <a:solidFill>
                <a:srgbClr val="475569"/>
              </a:solidFill>
              <a:latin typeface="Noto Sans CJK SC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30352" y="3803904"/>
            <a:ext cx="11128248" cy="19019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4050791"/>
            <a:ext cx="978408" cy="292608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059935"/>
            <a:ext cx="9784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D32F2F"/>
                </a:solidFill>
                <a:latin typeface="Noto Sans CJK SC"/>
              </a:rPr>
              <a:t>BPFC 闭环</a:t>
            </a:r>
            <a:endParaRPr sz="1050" b="1" i="0">
              <a:solidFill>
                <a:srgbClr val="D32F2F"/>
              </a:solidFill>
              <a:latin typeface="Noto Sans CJK S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874519" y="4069080"/>
            <a:ext cx="1078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Noto Sans CJK SC"/>
              </a:rPr>
              <a:t>目标行为剖面</a:t>
            </a:r>
            <a:endParaRPr sz="120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572768" y="4443984"/>
            <a:ext cx="168249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1" i="0">
                <a:solidFill>
                  <a:srgbClr val="D32F2F"/>
                </a:solidFill>
                <a:latin typeface="Noto Sans CJK SC"/>
              </a:rPr>
              <a:t>b* = [0.95, 0.90, 0.05, 0.01]</a:t>
            </a:r>
            <a:endParaRPr sz="1250" b="1" i="0">
              <a:solidFill>
                <a:srgbClr val="D32F2F"/>
              </a:solidFill>
              <a:latin typeface="Noto Sans CJK SC"/>
            </a:endParaRPr>
          </a:p>
        </p:txBody>
      </p:sp>
      <p:sp>
        <p:nvSpPr>
          <p:cNvPr id="33" name="Right Arrow 32"/>
          <p:cNvSpPr/>
          <p:nvPr/>
        </p:nvSpPr>
        <p:spPr>
          <a:xfrm>
            <a:off x="3310128" y="4434840"/>
            <a:ext cx="420624" cy="25603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4059936"/>
            <a:ext cx="1325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Noto Sans CJK SC"/>
              </a:rPr>
              <a:t>Global Profile</a:t>
            </a:r>
            <a:endParaRPr sz="120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840480" y="4462272"/>
            <a:ext cx="1033271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50" b="1" i="0">
                <a:solidFill>
                  <a:srgbClr val="7C3AED"/>
                </a:solidFill>
                <a:latin typeface="Noto Sans CJK SC"/>
              </a:rPr>
              <a:t>[91, 87, 34, 3]</a:t>
            </a:r>
            <a:endParaRPr sz="1350" b="1" i="0">
              <a:solidFill>
                <a:srgbClr val="7C3AED"/>
              </a:solidFill>
              <a:latin typeface="Noto Sans CJK SC"/>
            </a:endParaRPr>
          </a:p>
        </p:txBody>
      </p:sp>
      <p:sp>
        <p:nvSpPr>
          <p:cNvPr id="36" name="Right Arrow 35"/>
          <p:cNvSpPr/>
          <p:nvPr/>
        </p:nvSpPr>
        <p:spPr>
          <a:xfrm>
            <a:off x="5065776" y="4434840"/>
            <a:ext cx="420624" cy="25603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22392" y="405993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Noto Sans CJK SC"/>
              </a:rPr>
              <a:t>Profile Distortion</a:t>
            </a:r>
            <a:endParaRPr sz="120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349240" y="4462272"/>
            <a:ext cx="166420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1" i="0">
                <a:solidFill>
                  <a:srgbClr val="F59E0B"/>
                </a:solidFill>
                <a:latin typeface="Noto Sans CJK SC"/>
              </a:rPr>
              <a:t>Target −4   Boundary +26</a:t>
            </a:r>
            <a:endParaRPr sz="1250" b="1" i="0">
              <a:solidFill>
                <a:srgbClr val="F59E0B"/>
              </a:solidFill>
              <a:latin typeface="Noto Sans CJK SC"/>
            </a:endParaRPr>
          </a:p>
        </p:txBody>
      </p:sp>
      <p:sp>
        <p:nvSpPr>
          <p:cNvPr id="39" name="Right Arrow 38"/>
          <p:cNvSpPr/>
          <p:nvPr/>
        </p:nvSpPr>
        <p:spPr>
          <a:xfrm>
            <a:off x="7114032" y="4434840"/>
            <a:ext cx="420624" cy="25603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24927" y="4059936"/>
            <a:ext cx="12984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Noto Sans CJK SC"/>
              </a:rPr>
              <a:t>下一轮局部训练</a:t>
            </a:r>
            <a:endParaRPr sz="120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296912" y="4389120"/>
            <a:ext cx="157276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20" b="1" i="0">
                <a:solidFill>
                  <a:srgbClr val="D32F2F"/>
                </a:solidFill>
                <a:latin typeface="Noto Sans CJK SC"/>
              </a:rPr>
              <a:t>补偿 Target / Equivalent
约束 Boundary / Normal</a:t>
            </a:r>
            <a:endParaRPr sz="1120" b="1" i="0">
              <a:solidFill>
                <a:srgbClr val="D32F2F"/>
              </a:solidFill>
              <a:latin typeface="Noto Sans CJK SC"/>
            </a:endParaRPr>
          </a:p>
        </p:txBody>
      </p:sp>
      <p:sp>
        <p:nvSpPr>
          <p:cNvPr id="42" name="Right Arrow 41"/>
          <p:cNvSpPr/>
          <p:nvPr/>
        </p:nvSpPr>
        <p:spPr>
          <a:xfrm>
            <a:off x="8942832" y="4434840"/>
            <a:ext cx="420624" cy="25603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08592" y="4059936"/>
            <a:ext cx="19019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Noto Sans CJK SC"/>
              </a:rPr>
              <a:t>更忠实的 Global 行为</a:t>
            </a:r>
            <a:endParaRPr sz="120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564624" y="4462272"/>
            <a:ext cx="14264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50" b="1" i="0">
                <a:solidFill>
                  <a:srgbClr val="16A34A"/>
                </a:solidFill>
                <a:latin typeface="Noto Sans CJK SC"/>
              </a:rPr>
              <a:t>[94, 90, 12, 2]</a:t>
            </a:r>
            <a:endParaRPr sz="1350" b="1" i="0">
              <a:solidFill>
                <a:srgbClr val="16A34A"/>
              </a:solidFill>
              <a:latin typeface="Noto Sans CJK SC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10168128" y="5084064"/>
            <a:ext cx="0" cy="265176"/>
          </a:xfrm>
          <a:prstGeom prst="line">
            <a:avLst/>
          </a:prstGeom>
          <a:ln w="2540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2432304" y="5349240"/>
            <a:ext cx="7735824" cy="0"/>
          </a:xfrm>
          <a:prstGeom prst="line">
            <a:avLst/>
          </a:prstGeom>
          <a:ln w="2540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Left Arrow 46"/>
          <p:cNvSpPr/>
          <p:nvPr/>
        </p:nvSpPr>
        <p:spPr>
          <a:xfrm>
            <a:off x="2322576" y="5230368"/>
            <a:ext cx="274320" cy="219456"/>
          </a:xfrm>
          <a:prstGeom prst="leftArrow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30352" y="5925312"/>
            <a:ext cx="6784848" cy="42062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" y="5989320"/>
            <a:ext cx="634593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20" b="1" i="0">
                <a:solidFill>
                  <a:srgbClr val="FFFFFF"/>
                </a:solidFill>
                <a:latin typeface="Noto Sans CJK SC"/>
              </a:rPr>
              <a:t>最终目标：High ASR  +  High Behavior Transfer Fidelity</a:t>
            </a:r>
            <a:endParaRPr sz="1320" b="1" i="0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479792" y="5916168"/>
            <a:ext cx="417880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20" b="0" i="0">
                <a:solidFill>
                  <a:srgbClr val="64748B"/>
                </a:solidFill>
                <a:latin typeface="Noto Sans CJK SC"/>
              </a:rPr>
              <a:t>机制验证变量：Non-IID · Aggregation Rule · Malicious Ratio · Client Sampling · Benign Update Diversity</a:t>
            </a:r>
            <a:endParaRPr sz="920" b="0" i="0">
              <a:solidFill>
                <a:srgbClr val="64748B"/>
              </a:solidFill>
              <a:latin typeface="Noto Sans CJK SC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30352" y="6473952"/>
            <a:ext cx="110642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Noto Sans CJK SC"/>
              </a:rPr>
              <a:t>Page 4  |  Overall Framework</a:t>
            </a:r>
            <a:endParaRPr sz="850" b="0" i="0">
              <a:solidFill>
                <a:srgbClr val="64748B"/>
              </a:solidFill>
              <a:latin typeface="Noto Sans CJK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Noto Sans CJK SC"/>
              </a:rPr>
              <a:t>相关工作与我们的差异化定位</a:t>
            </a:r>
            <a:endParaRPr sz="240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530352" cy="50292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" y="658368"/>
            <a:ext cx="10515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Noto Sans CJK SC"/>
              </a:rPr>
              <a:t>从“攻击能否存活”进一步转向“行为能否忠实传递”</a:t>
            </a:r>
            <a:endParaRPr sz="1050" b="0" i="0">
              <a:solidFill>
                <a:srgbClr val="64748B"/>
              </a:solidFill>
              <a:latin typeface="Noto Sans CJK SC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234440"/>
            <a:ext cx="54406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344168"/>
            <a:ext cx="10515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Noto Sans CJK SC"/>
              </a:rPr>
              <a:t>AISTATS 2020</a:t>
            </a:r>
            <a:endParaRPr sz="950" b="1" i="0">
              <a:solidFill>
                <a:srgbClr val="2563EB"/>
              </a:solidFill>
              <a:latin typeface="Noto Sans CJK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1591056"/>
            <a:ext cx="5166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80" b="1" i="0">
                <a:solidFill>
                  <a:srgbClr val="0F172A"/>
                </a:solidFill>
                <a:latin typeface="Noto Sans CJK SC"/>
              </a:rPr>
              <a:t>How To Backdoor Federated Learning</a:t>
            </a:r>
            <a:endParaRPr sz="108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" y="2057400"/>
            <a:ext cx="5166360" cy="10058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60" b="0" i="0">
                <a:solidFill>
                  <a:srgbClr val="475569"/>
                </a:solidFill>
                <a:latin typeface="Noto Sans CJK SC"/>
              </a:rPr>
              <a:t>Model Replacement：通过缩放恶意更新，使 FedAvg 聚合后的模型接近攻击目标。</a:t>
            </a:r>
            <a:endParaRPr sz="960" b="0" i="0">
              <a:solidFill>
                <a:srgbClr val="475569"/>
              </a:solidFill>
              <a:latin typeface="Noto Sans CJK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2395728"/>
            <a:ext cx="54406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505456"/>
            <a:ext cx="10515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Noto Sans CJK SC"/>
              </a:rPr>
              <a:t>ICLR 2020</a:t>
            </a:r>
            <a:endParaRPr sz="950" b="1" i="0">
              <a:solidFill>
                <a:srgbClr val="2563EB"/>
              </a:solidFill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3232" y="2752344"/>
            <a:ext cx="5166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80" b="1" i="0">
                <a:solidFill>
                  <a:srgbClr val="0F172A"/>
                </a:solidFill>
                <a:latin typeface="Noto Sans CJK SC"/>
              </a:rPr>
              <a:t>Distributed Backdoor Attacks against Federated Learning</a:t>
            </a:r>
            <a:endParaRPr sz="108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3232" y="3218688"/>
            <a:ext cx="5166360" cy="10058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60" b="0" i="0">
                <a:solidFill>
                  <a:srgbClr val="475569"/>
                </a:solidFill>
                <a:latin typeface="Noto Sans CJK SC"/>
              </a:rPr>
              <a:t>多个攻击者分别植入后门的一部分，并在联邦聚合中组合形成完整后门。</a:t>
            </a:r>
            <a:endParaRPr sz="960" b="0" i="0">
              <a:solidFill>
                <a:srgbClr val="475569"/>
              </a:solidFill>
              <a:latin typeface="Noto Sans CJK S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6928" y="3557016"/>
            <a:ext cx="54406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66744"/>
            <a:ext cx="10515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Noto Sans CJK SC"/>
              </a:rPr>
              <a:t>ICML 2022</a:t>
            </a:r>
            <a:endParaRPr sz="950" b="1" i="0">
              <a:solidFill>
                <a:srgbClr val="2563EB"/>
              </a:solidFill>
              <a:latin typeface="Noto Sans CJK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3232" y="3913632"/>
            <a:ext cx="5166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80" b="1" i="0">
                <a:solidFill>
                  <a:srgbClr val="0F172A"/>
                </a:solidFill>
                <a:latin typeface="Noto Sans CJK SC"/>
              </a:rPr>
              <a:t>Neurotoxin: Durable Backdoors in Federated Learning</a:t>
            </a:r>
            <a:endParaRPr sz="108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4379976"/>
            <a:ext cx="5166360" cy="10058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60" b="0" i="0">
                <a:solidFill>
                  <a:srgbClr val="475569"/>
                </a:solidFill>
                <a:latin typeface="Noto Sans CJK SC"/>
              </a:rPr>
              <a:t>将后门写入正常训练较少触碰的参数区域，提高后门持久性。</a:t>
            </a:r>
            <a:endParaRPr sz="960" b="0" i="0">
              <a:solidFill>
                <a:srgbClr val="475569"/>
              </a:solidFill>
              <a:latin typeface="Noto Sans CJK SC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66928" y="4718304"/>
            <a:ext cx="54406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828032"/>
            <a:ext cx="10515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Noto Sans CJK SC"/>
              </a:rPr>
              <a:t>NeurIPS 2023</a:t>
            </a:r>
            <a:endParaRPr sz="950" b="1" i="0">
              <a:solidFill>
                <a:srgbClr val="2563EB"/>
              </a:solidFill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3232" y="5074920"/>
            <a:ext cx="5166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80" b="1" i="0">
                <a:solidFill>
                  <a:srgbClr val="0F172A"/>
                </a:solidFill>
                <a:latin typeface="Noto Sans CJK SC"/>
              </a:rPr>
              <a:t>A3FL: Adversarially Adaptive Backdoor Attacks to Federated Learning</a:t>
            </a:r>
            <a:endParaRPr sz="108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3232" y="5541264"/>
            <a:ext cx="5166360" cy="10058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60" b="0" i="0">
                <a:solidFill>
                  <a:srgbClr val="475569"/>
                </a:solidFill>
                <a:latin typeface="Noto Sans CJK SC"/>
              </a:rPr>
              <a:t>通过 adversarial global model 模拟后续不利变化，优化更耐聚合/遗忘的攻击。</a:t>
            </a:r>
            <a:endParaRPr sz="960" b="0" i="0">
              <a:solidFill>
                <a:srgbClr val="475569"/>
              </a:solidFill>
              <a:latin typeface="Noto Sans CJK SC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17920" y="1234440"/>
            <a:ext cx="5440680" cy="123444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344168"/>
            <a:ext cx="10515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1" i="0">
                <a:solidFill>
                  <a:srgbClr val="D32F2F"/>
                </a:solidFill>
                <a:latin typeface="Noto Sans CJK SC"/>
              </a:rPr>
              <a:t>ICASSP 2026</a:t>
            </a:r>
            <a:endParaRPr sz="950" b="1" i="0">
              <a:solidFill>
                <a:srgbClr val="D32F2F"/>
              </a:solidFill>
              <a:latin typeface="Noto Sans CJK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64224" y="1591056"/>
            <a:ext cx="5166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80" b="1" i="0">
                <a:solidFill>
                  <a:srgbClr val="0F172A"/>
                </a:solidFill>
                <a:latin typeface="Noto Sans CJK SC"/>
              </a:rPr>
              <a:t>Revisiting Backdoor Threat in Federated Instruction Tuning from a Signal Aggregation Perspective</a:t>
            </a:r>
            <a:endParaRPr sz="108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64224" y="2057400"/>
            <a:ext cx="5166360" cy="2834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60" b="0" i="0">
                <a:solidFill>
                  <a:srgbClr val="475569"/>
                </a:solidFill>
                <a:latin typeface="Noto Sans CJK SC"/>
              </a:rPr>
              <a:t>从 signal aggregation 角度研究分散弱后门信号如何在聚合中累积形成后门。</a:t>
            </a:r>
            <a:endParaRPr sz="960" b="0" i="0">
              <a:solidFill>
                <a:srgbClr val="475569"/>
              </a:solidFill>
              <a:latin typeface="Noto Sans CJK SC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217920" y="2578608"/>
            <a:ext cx="544068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88336"/>
            <a:ext cx="10515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Noto Sans CJK SC"/>
              </a:rPr>
              <a:t>CVPR 2025</a:t>
            </a:r>
            <a:endParaRPr sz="950" b="1" i="0">
              <a:solidFill>
                <a:srgbClr val="2563EB"/>
              </a:solidFill>
              <a:latin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64224" y="2935224"/>
            <a:ext cx="5166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80" b="1" i="0">
                <a:solidFill>
                  <a:srgbClr val="0F172A"/>
                </a:solidFill>
                <a:latin typeface="Noto Sans CJK SC"/>
              </a:rPr>
              <a:t>Revisiting Backdoor Attacks against Large Vision-Language Models from Domain Shift</a:t>
            </a:r>
            <a:endParaRPr sz="108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64224" y="3401568"/>
            <a:ext cx="5166360" cy="2834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60" b="0" i="0">
                <a:solidFill>
                  <a:srgbClr val="475569"/>
                </a:solidFill>
                <a:latin typeface="Noto Sans CJK SC"/>
              </a:rPr>
              <a:t>从 domain shift 视角研究后门泛化与跨分布攻击效果。</a:t>
            </a:r>
            <a:endParaRPr sz="960" b="0" i="0">
              <a:solidFill>
                <a:srgbClr val="475569"/>
              </a:solidFill>
              <a:latin typeface="Noto Sans CJK SC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17920" y="3922776"/>
            <a:ext cx="5440680" cy="1335024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4032504"/>
            <a:ext cx="10515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1" i="0">
                <a:solidFill>
                  <a:srgbClr val="D32F2F"/>
                </a:solidFill>
                <a:latin typeface="Noto Sans CJK SC"/>
              </a:rPr>
              <a:t>ACL 2026</a:t>
            </a:r>
            <a:endParaRPr sz="950" b="1" i="0">
              <a:solidFill>
                <a:srgbClr val="D32F2F"/>
              </a:solidFill>
              <a:latin typeface="Noto Sans CJK S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64224" y="4279392"/>
            <a:ext cx="5166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80" b="1" i="0">
                <a:solidFill>
                  <a:srgbClr val="0F172A"/>
                </a:solidFill>
                <a:latin typeface="Noto Sans CJK SC"/>
              </a:rPr>
              <a:t>When Backdoors Go Beyond Triggers: Semantic Drift in Diffusion Models Under Encoder Attacks</a:t>
            </a:r>
            <a:endParaRPr sz="1080" b="1" i="0">
              <a:solidFill>
                <a:srgbClr val="0F172A"/>
              </a:solidFill>
              <a:latin typeface="Noto Sans CJK SC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64224" y="4745736"/>
            <a:ext cx="5166360" cy="3840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60" b="0" i="0">
                <a:solidFill>
                  <a:srgbClr val="475569"/>
                </a:solidFill>
                <a:latin typeface="Noto Sans CJK SC"/>
              </a:rPr>
              <a:t>揭示 encoder poisoning 可导致 trigger-free semantic drift 与局部语义空间形变。</a:t>
            </a:r>
            <a:endParaRPr sz="960" b="0" i="0">
              <a:solidFill>
                <a:srgbClr val="475569"/>
              </a:solidFill>
              <a:latin typeface="Noto Sans CJK SC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217920" y="5422392"/>
            <a:ext cx="5440680" cy="7498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5541264"/>
            <a:ext cx="4983480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20" b="1" i="0">
                <a:solidFill>
                  <a:srgbClr val="FFFFFF"/>
                </a:solidFill>
                <a:latin typeface="Noto Sans CJK SC"/>
              </a:rPr>
              <a:t>我们的差异：Local → Global 的行为传递保真度
攻击“仍然成功”并不等于“仍是原来那个后门”</a:t>
            </a:r>
            <a:endParaRPr sz="1220" b="1" i="0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30352" y="6473952"/>
            <a:ext cx="110642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Noto Sans CJK SC"/>
              </a:rPr>
              <a:t>Page 5  |  Related Work &amp; Positioning</a:t>
            </a:r>
            <a:endParaRPr sz="850" b="0" i="0">
              <a:solidFill>
                <a:srgbClr val="64748B"/>
              </a:solidFill>
              <a:latin typeface="Noto Sans CJK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3029</Words>
  <Application>WPS 演示</Application>
  <PresentationFormat>宽屏</PresentationFormat>
  <Paragraphs>282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Noto Sans CJK SC</vt:lpstr>
      <vt:lpstr>Segoe Print</vt:lpstr>
      <vt:lpstr>Calibri</vt:lpstr>
      <vt:lpstr>微软雅黑</vt:lpstr>
      <vt:lpstr>Arial Unicode MS</vt:lpstr>
      <vt:lpstr>MS PGothic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20210</dc:creator>
  <cp:lastModifiedBy>王晨卓</cp:lastModifiedBy>
  <cp:revision>26</cp:revision>
  <dcterms:created xsi:type="dcterms:W3CDTF">2023-08-09T12:44:00Z</dcterms:created>
  <dcterms:modified xsi:type="dcterms:W3CDTF">2026-08-31T16:18:20Z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749704422ED44E66B0F41D8CD66356D4_12</vt:lpwstr>
  </property>
</Properties>
</file>